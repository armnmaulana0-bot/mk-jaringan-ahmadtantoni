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63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53589" y="314326"/>
            <a:ext cx="9601200" cy="1759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Referensi OSI</a:t>
            </a:r>
            <a:endParaRPr lang="en-US" sz="4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&amp; Layer 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410789" y="209169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Layer &amp; Transport Layer </a:t>
            </a:r>
            <a:r>
              <a:rPr lang="en-US" sz="17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komunikasi data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821305" y="332024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16555" y="3221942"/>
            <a:ext cx="2468880" cy="658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· Network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0315" y="332024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5885065" y="332024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· Transport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2345" y="627507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 ·  Teknik Informatika  ·  STMIK Lombok  ·  2026</a:t>
            </a:r>
            <a:endParaRPr lang="en-US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B417CAE5-5926-5C26-F208-748A8E724969}"/>
              </a:ext>
            </a:extLst>
          </p:cNvPr>
          <p:cNvSpPr/>
          <p:nvPr/>
        </p:nvSpPr>
        <p:spPr>
          <a:xfrm rot="10800000" flipV="1">
            <a:off x="-925903" y="3697432"/>
            <a:ext cx="11633091" cy="1766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8">
              <a:lnSpc>
                <a:spcPct val="105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Haekal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sabibM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(TI22250021) </a:t>
            </a:r>
          </a:p>
          <a:p>
            <a:pPr lvl="8">
              <a:lnSpc>
                <a:spcPct val="105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Arman Maulana(TI22250007)</a:t>
            </a: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1F8C9D4-FC80-C86E-29EB-521FB0E4A56C}"/>
              </a:ext>
            </a:extLst>
          </p:cNvPr>
          <p:cNvSpPr/>
          <p:nvPr/>
        </p:nvSpPr>
        <p:spPr>
          <a:xfrm>
            <a:off x="6037465" y="347264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Model Referensi OSI?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OSI </a:t>
            </a: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membagi proses komunikasi data menjadi 7 lapisan agar perangkat berbeda merek dan teknologi dapat saling berkomunikasi.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Makalah ini fokus membahas dua lapisan yang berperan langsung dalam pengalamatan dan pengiriman data: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9EFF3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9044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04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463040" y="38221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4206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Pengalamatan IP &amp; routing antar jaringan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9EFF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4910328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910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463040" y="48280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5212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Pengiriman data end-to-end antar aplikasi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417320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E9EFF3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41732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Application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2020824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E9EFF3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02082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Presentation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624328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E9EFF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62432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Session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3227832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22783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Transport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3831336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83133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Network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4434840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E9EFF3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43484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Data Link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5038344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E9EFF3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5038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Physical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92240" y="10332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pembahasan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2· OSI Layer 3 &amp;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Layer (Layer 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9EF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Definisi:  </a:t>
            </a: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yang bertanggung jawab atas pengalamatan logis (IP Address) dan penentuan jalur (routing) agar paket data sampai ke perangkat tujuan, meski berada pada jaringan berbeda.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Utama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3192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188720" y="3264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alamat IP unik pada tiap perangkat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-800100" y="48691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33192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937760" y="3264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jalur terbaik antar jaringan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31546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33192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686800" y="3264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Forwarding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Meneruskan paket via tabel routing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4165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188720" y="4361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Fragmentasi &amp; Reassembly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Memecah paket agar sesuai MTU, lalu menyusun ulang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425196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44165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937760" y="4361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aliran agar trafik tidak padat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· OSI Layer 3 &amp;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&amp; Protokol Network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Pengirim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(Source)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0" y="1920240"/>
            <a:ext cx="502920" cy="18288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7" name="Shape 5"/>
          <p:cNvSpPr/>
          <p:nvPr/>
        </p:nvSpPr>
        <p:spPr>
          <a:xfrm>
            <a:off x="2971800" y="15544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1920240"/>
            <a:ext cx="502920" cy="18288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8"/>
          <p:cNvSpPr/>
          <p:nvPr/>
        </p:nvSpPr>
        <p:spPr>
          <a:xfrm>
            <a:off x="5394960" y="15544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1920240"/>
            <a:ext cx="502920" cy="18288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7818120" y="15544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15544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(Destination)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dibungkus header IP (sumber &amp; tujuan), lalu diteruskan router demi router berdasarkan tabel routing — bisa static (manual) atau dynamic (otomatis via protokol routing).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 pada Network Layer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9EFF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(v4/v6)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4165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Pengalamatan &amp; pengiriman paket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55848" y="39776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9EFF3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93008" y="44165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error &amp; status (mis. ping)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39776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9EFF3"/>
          </a:solidFill>
          <a:ln/>
        </p:spPr>
      </p:sp>
      <p:sp>
        <p:nvSpPr>
          <p:cNvPr id="24" name="Text 22"/>
          <p:cNvSpPr/>
          <p:nvPr/>
        </p:nvSpPr>
        <p:spPr>
          <a:xfrm>
            <a:off x="6300216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0216" y="44165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Memetakan IP Address ke MAC Address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70264" y="397764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9EFF3"/>
          </a:solidFill>
          <a:ln/>
        </p:spPr>
      </p:sp>
      <p:sp>
        <p:nvSpPr>
          <p:cNvPr id="27" name="Text 25"/>
          <p:cNvSpPr/>
          <p:nvPr/>
        </p:nvSpPr>
        <p:spPr>
          <a:xfrm>
            <a:off x="9107424" y="4069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/ OSPF / EIGRP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07424" y="441655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routing dinamis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0B3D5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120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dan Layer 3 Switch — menghubungkan jaringan berbeda &amp; menentukan jalur terbaik berdasarkan alamat IP.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</a:t>
            </a: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· OSI Layer 3 &amp;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PEMBAHASAN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Layer (Layer 4)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9EF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Definisi:  </a:t>
            </a: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yang bertanggung jawab atas pengiriman data end-to-end antar aplikasi, memastikan data sampai utuh, berurutan, dan tanpa kesalahan.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Utama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31927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188720" y="3264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&amp; Reassembly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Memecah data besar jadi segmen, disusun ulang di penerima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62272" y="331927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937760" y="3264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Multiplexing / Demultiplexing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aplikasi berbagi koneksi via nomor 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315468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331927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686800" y="3264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kecepatan kirim agar buffer tak penuh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41655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188720" y="4361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Control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8872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&amp; perbaikan lewat acknowledgment, retransmisi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425196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272" y="441655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4462272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937760" y="4361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Mgmt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&amp; mengakhiri koneksi (khusus TCP)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OSI Layer 3 &amp;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PEMBAHASAN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Transport Layer (TCP)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Handshake — membangun koneksi sebelum data dikirim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84080" y="1920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743200"/>
            <a:ext cx="7223760" cy="164592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45059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68880" y="3246120"/>
            <a:ext cx="7223760" cy="164592"/>
          </a:xfrm>
          <a:prstGeom prst="leftArrow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95351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SYN-ACK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68880" y="3749040"/>
            <a:ext cx="7223760" cy="164592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34564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koneksi terbentuk, tiap segmen dikonfirmasi (acknowledgment); segmen hilang/rusak akan dikirim ulang (retransmisi).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E9EFF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92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Port membedakan aplikasi pengirim/penerima pada satu perangkat: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230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0–1023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Well-Known Ports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7424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80 · HTTPS 443 · FTP 21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5230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1024–49151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5486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Ports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26280" y="57424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Terdaftar untuk aplikasi tertentu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5230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49152–65535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5486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Dynamic/Private Ports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0" y="57424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sementara oleh client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OSI Layer 3 &amp;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PEMBAHASAN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vs UDP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977640" y="1554480"/>
            <a:ext cx="3657600" cy="502920"/>
          </a:xfrm>
          <a:prstGeom prst="rect">
            <a:avLst/>
          </a:prstGeom>
          <a:solidFill>
            <a:srgbClr val="1C7293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554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0" y="1554480"/>
            <a:ext cx="3886200" cy="502920"/>
          </a:xfrm>
          <a:prstGeom prst="rect">
            <a:avLst/>
          </a:prstGeom>
          <a:solidFill>
            <a:srgbClr val="F4A261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15544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291840" cy="566928"/>
          </a:xfrm>
          <a:prstGeom prst="rect">
            <a:avLst/>
          </a:prstGeom>
          <a:solidFill>
            <a:srgbClr val="E9EFF3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574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koneksi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77640" y="2057400"/>
            <a:ext cx="365760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0574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Connection-oriented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2057400"/>
            <a:ext cx="388620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0574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Connectionless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3291840" cy="621792"/>
          </a:xfrm>
          <a:prstGeom prst="rect">
            <a:avLst/>
          </a:prstGeom>
          <a:solidFill>
            <a:srgbClr val="E9EFF3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2432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Keandalan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2624328"/>
            <a:ext cx="3657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62432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Andal, data terjamin &amp; berurutan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2624328"/>
            <a:ext cx="3886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262432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menjamin urutan/sampai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3291840" cy="566928"/>
          </a:xfrm>
          <a:prstGeom prst="rect">
            <a:avLst/>
          </a:prstGeom>
          <a:solidFill>
            <a:srgbClr val="E9EFF3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461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77640" y="3246120"/>
            <a:ext cx="365760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2461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lambat (ada overhead)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246120"/>
            <a:ext cx="3886200" cy="566928"/>
          </a:xfrm>
          <a:prstGeom prst="rect">
            <a:avLst/>
          </a:prstGeom>
          <a:solidFill>
            <a:srgbClr val="F4F7F9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24612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cepat, tanpa handshake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813048"/>
            <a:ext cx="3291840" cy="621792"/>
          </a:xfrm>
          <a:prstGeom prst="rect">
            <a:avLst/>
          </a:prstGeom>
          <a:solidFill>
            <a:srgbClr val="E9EFF3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81304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77640" y="3813048"/>
            <a:ext cx="36576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381304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handshake, ACK, retransmisi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3813048"/>
            <a:ext cx="38862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381304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langsung tanpa konfirmasi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3291840" cy="621792"/>
          </a:xfrm>
          <a:prstGeom prst="rect">
            <a:avLst/>
          </a:prstGeom>
          <a:solidFill>
            <a:srgbClr val="E9EFF3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3484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Pemakaian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77640" y="4434840"/>
            <a:ext cx="3657600" cy="621792"/>
          </a:xfrm>
          <a:prstGeom prst="rect">
            <a:avLst/>
          </a:prstGeom>
          <a:solidFill>
            <a:srgbClr val="F4F7F9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443484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Email, Transfer File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4434840"/>
            <a:ext cx="3886200" cy="621792"/>
          </a:xfrm>
          <a:prstGeom prst="rect">
            <a:avLst/>
          </a:prstGeom>
          <a:solidFill>
            <a:srgbClr val="F4F7F9"/>
          </a:solidFill>
          <a:ln w="9525">
            <a:solidFill>
              <a:srgbClr val="D6E1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9560" y="443484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VoIP, Game Online, DNS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OSI Layer 3 &amp; 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PEMBAHASAN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Hubungan Network Layer &amp; Transport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saling melengkapi dalam mengantarkan data dari aplikasi pengirim ke aplikasi penerima: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9EFF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dari aplikasi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2697480"/>
            <a:ext cx="320040" cy="182880"/>
          </a:xfrm>
          <a:prstGeom prst="rightArrow">
            <a:avLst/>
          </a:prstGeom>
          <a:solidFill>
            <a:srgbClr val="0B3D5C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20440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Dipecah jadi segmen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nomor 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2697480"/>
            <a:ext cx="320040" cy="182880"/>
          </a:xfrm>
          <a:prstGeom prst="rightArrow">
            <a:avLst/>
          </a:prstGeom>
          <a:solidFill>
            <a:srgbClr val="0B3D5C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Dibungkus jadi paket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alamat IP, routing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2697480"/>
            <a:ext cx="320040" cy="182880"/>
          </a:xfrm>
          <a:prstGeom prst="rightArrow">
            <a:avLst/>
          </a:prstGeom>
          <a:solidFill>
            <a:srgbClr val="0B3D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2240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Tujuan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89720" y="26060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ke aplikasi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tepat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1422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023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17320" y="43159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host-to-host — antar jaringan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9319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D6E1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414223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95160" y="4023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95160" y="43159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process-to-process — antar aplikasi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keduanya, komunikasi data antar perangkat pada jaringan berbeda tidak dapat berjalan efisien dan sesuai kebutuhan aplikasi.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OSI Layer 3 &amp;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Transport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24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(L3) mengatur pengalamatan IP &amp; routing paket antar jaringan; perangkat utamanya router.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24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utama L3: IP, ICMP, ARP, dan protokol routing (RIP, OSPF, EIGRP).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741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24" dirty="0"/>
          </a:p>
        </p:txBody>
      </p:sp>
      <p:sp>
        <p:nvSpPr>
          <p:cNvPr id="13" name="Text 11"/>
          <p:cNvSpPr/>
          <p:nvPr/>
        </p:nvSpPr>
        <p:spPr>
          <a:xfrm>
            <a:off x="1234440" y="33284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Layer (L4) menjamin pengiriman data end-to-end antar aplikasi lewat segmentasi, multiplexing, flow &amp; error control.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69664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24" dirty="0"/>
          </a:p>
        </p:txBody>
      </p:sp>
      <p:sp>
        <p:nvSpPr>
          <p:cNvPr id="16" name="Text 14"/>
          <p:cNvSpPr/>
          <p:nvPr/>
        </p:nvSpPr>
        <p:spPr>
          <a:xfrm>
            <a:off x="1234440" y="412394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andal &amp; berorientasi koneksi; UDP cepat namun tanpa jaminan pengiriman.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651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65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24" dirty="0"/>
          </a:p>
        </p:txBody>
      </p:sp>
      <p:sp>
        <p:nvSpPr>
          <p:cNvPr id="19" name="Text 17"/>
          <p:cNvSpPr/>
          <p:nvPr/>
        </p:nvSpPr>
        <p:spPr>
          <a:xfrm>
            <a:off x="1234440" y="491947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saling melengkapi: L3 host-to-host, L4 process-to-process — dasar komunikasi data yang efisien.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· OSI Layer 3 &amp;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821</Words>
  <Application>Microsoft Office PowerPoint</Application>
  <PresentationFormat>Widescreen</PresentationFormat>
  <Paragraphs>175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 437496</cp:lastModifiedBy>
  <cp:revision>2</cp:revision>
  <dcterms:created xsi:type="dcterms:W3CDTF">2026-09-23T13:11:21Z</dcterms:created>
  <dcterms:modified xsi:type="dcterms:W3CDTF">2026-09-28T03:32:52Z</dcterms:modified>
</cp:coreProperties>
</file>